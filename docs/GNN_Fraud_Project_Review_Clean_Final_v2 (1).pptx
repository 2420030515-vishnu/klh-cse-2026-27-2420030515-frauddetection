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73" r:id="rId5"/>
    <p:sldId id="258" r:id="rId6"/>
    <p:sldId id="261" r:id="rId7"/>
    <p:sldId id="265" r:id="rId8"/>
    <p:sldId id="260" r:id="rId9"/>
    <p:sldId id="272" r:id="rId10"/>
    <p:sldId id="274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24BD777-37A9-43A8-B010-53FE3852698E}">
          <p14:sldIdLst>
            <p14:sldId id="256"/>
            <p14:sldId id="257"/>
            <p14:sldId id="264"/>
          </p14:sldIdLst>
        </p14:section>
        <p14:section name="Untitled Section" id="{7307711C-9608-4191-9EEF-59EA12CA526A}">
          <p14:sldIdLst>
            <p14:sldId id="273"/>
            <p14:sldId id="258"/>
            <p14:sldId id="261"/>
            <p14:sldId id="265"/>
            <p14:sldId id="260"/>
            <p14:sldId id="272"/>
            <p14:sldId id="274"/>
            <p14:sldId id="266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54" y="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9509760" y="1325880"/>
            <a:ext cx="502920" cy="502920"/>
          </a:xfrm>
          <a:prstGeom prst="ellipse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6" name="Oval 5"/>
          <p:cNvSpPr/>
          <p:nvPr/>
        </p:nvSpPr>
        <p:spPr>
          <a:xfrm>
            <a:off x="10561320" y="2148840"/>
            <a:ext cx="502920" cy="502920"/>
          </a:xfrm>
          <a:prstGeom prst="ellipse">
            <a:avLst/>
          </a:prstGeom>
          <a:solidFill>
            <a:srgbClr val="1E5C91"/>
          </a:solidFill>
          <a:ln w="10160">
            <a:solidFill>
              <a:srgbClr val="1E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7" name="Oval 6"/>
          <p:cNvSpPr/>
          <p:nvPr/>
        </p:nvSpPr>
        <p:spPr>
          <a:xfrm>
            <a:off x="8823960" y="2514600"/>
            <a:ext cx="502920" cy="502920"/>
          </a:xfrm>
          <a:prstGeom prst="ellipse">
            <a:avLst/>
          </a:prstGeom>
          <a:solidFill>
            <a:srgbClr val="CA9D41"/>
          </a:solidFill>
          <a:ln w="10160">
            <a:solidFill>
              <a:srgbClr val="CA9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M</a:t>
            </a:r>
          </a:p>
        </p:txBody>
      </p:sp>
      <p:sp>
        <p:nvSpPr>
          <p:cNvPr id="8" name="Oval 7"/>
          <p:cNvSpPr/>
          <p:nvPr/>
        </p:nvSpPr>
        <p:spPr>
          <a:xfrm>
            <a:off x="10012680" y="3337560"/>
            <a:ext cx="502920" cy="502920"/>
          </a:xfrm>
          <a:prstGeom prst="ellipse">
            <a:avLst/>
          </a:prstGeom>
          <a:solidFill>
            <a:srgbClr val="4FAEBA"/>
          </a:solidFill>
          <a:ln w="10160">
            <a:solidFill>
              <a:srgbClr val="4FAE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9" name="Oval 8"/>
          <p:cNvSpPr/>
          <p:nvPr/>
        </p:nvSpPr>
        <p:spPr>
          <a:xfrm>
            <a:off x="10972800" y="3794760"/>
            <a:ext cx="502920" cy="502920"/>
          </a:xfrm>
          <a:prstGeom prst="ellipse">
            <a:avLst/>
          </a:prstGeom>
          <a:solidFill>
            <a:srgbClr val="B83535"/>
          </a:solidFill>
          <a:ln w="10160">
            <a:solidFill>
              <a:srgbClr val="B8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012680" y="1828800"/>
            <a:ext cx="548640" cy="548640"/>
          </a:xfrm>
          <a:prstGeom prst="line">
            <a:avLst/>
          </a:prstGeom>
          <a:ln w="20320">
            <a:solidFill>
              <a:srgbClr val="5C8B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9070848" y="1828800"/>
            <a:ext cx="941832" cy="932688"/>
          </a:xfrm>
          <a:prstGeom prst="line">
            <a:avLst/>
          </a:prstGeom>
          <a:ln w="20320">
            <a:solidFill>
              <a:srgbClr val="5C8B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070848" y="2761488"/>
            <a:ext cx="1170432" cy="822960"/>
          </a:xfrm>
          <a:prstGeom prst="line">
            <a:avLst/>
          </a:prstGeom>
          <a:ln w="20320">
            <a:solidFill>
              <a:srgbClr val="5C8B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0241280" y="2606040"/>
            <a:ext cx="566928" cy="978408"/>
          </a:xfrm>
          <a:prstGeom prst="line">
            <a:avLst/>
          </a:prstGeom>
          <a:ln w="20320">
            <a:solidFill>
              <a:srgbClr val="5C8B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241280" y="3584448"/>
            <a:ext cx="960120" cy="457200"/>
          </a:xfrm>
          <a:prstGeom prst="line">
            <a:avLst/>
          </a:prstGeom>
          <a:ln w="20320">
            <a:solidFill>
              <a:srgbClr val="5C8B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49808" y="1325880"/>
            <a:ext cx="7223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4FAEBA"/>
                </a:solidFill>
                <a:latin typeface="Aptos"/>
              </a:defRPr>
            </a:pPr>
            <a:r>
              <a:t>ENGINEERING CAPSTONE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1783080"/>
            <a:ext cx="704088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rPr sz="2900"/>
              <a:t>Graph Neural Network</a:t>
            </a:r>
            <a:br/>
            <a:r>
              <a:rPr sz="2900"/>
              <a:t>Framework for Financial Transaction Fraud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337560"/>
            <a:ext cx="6858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D2DCE4"/>
                </a:solidFill>
                <a:latin typeface="Aptos"/>
              </a:defRPr>
            </a:pPr>
            <a:r>
              <a:t>A relationship-aware, explainable approach to detecting hidden fraud patterns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251960"/>
            <a:ext cx="2788920" cy="438912"/>
          </a:xfrm>
          <a:prstGeom prst="roundRect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315968"/>
            <a:ext cx="2514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dirty="0"/>
              <a:t>GNN • PROPOSED FRAMEWORK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074920"/>
            <a:ext cx="6217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DCE4EA"/>
                </a:solidFill>
                <a:latin typeface="Aptos"/>
              </a:defRPr>
            </a:pPr>
            <a:r>
              <a:t>Team 20</a:t>
            </a:r>
            <a:br/>
            <a:r>
              <a:t>P. Amarnath • K. Vishnu • M. Hemanth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053328"/>
            <a:ext cx="4389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A8B8C4"/>
                </a:solidFill>
                <a:latin typeface="Aptos"/>
              </a:defRPr>
            </a:pPr>
            <a:r>
              <a:t>Koneru Lakshmaiah University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73152"/>
            <a:ext cx="917448" cy="3931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65960" y="73152"/>
            <a:ext cx="8915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Contents</a:t>
            </a:r>
          </a:p>
        </p:txBody>
      </p:sp>
      <p:sp>
        <p:nvSpPr>
          <p:cNvPr id="14" name="Oval 13"/>
          <p:cNvSpPr/>
          <p:nvPr/>
        </p:nvSpPr>
        <p:spPr>
          <a:xfrm>
            <a:off x="11201400" y="155448"/>
            <a:ext cx="365760" cy="365760"/>
          </a:xfrm>
          <a:prstGeom prst="ellipse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832104"/>
            <a:ext cx="960120" cy="45720"/>
          </a:xfrm>
          <a:prstGeom prst="rect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85800" y="1234440"/>
            <a:ext cx="507492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50392" y="1426464"/>
            <a:ext cx="493776" cy="493776"/>
          </a:xfrm>
          <a:prstGeom prst="ellipse">
            <a:avLst/>
          </a:prstGeom>
          <a:solidFill>
            <a:srgbClr val="E8F1F8"/>
          </a:solidFill>
          <a:ln w="10160"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0472" y="1389888"/>
            <a:ext cx="3886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11F36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0472" y="1682496"/>
            <a:ext cx="3931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Why existing fraud detectors struggle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234440"/>
            <a:ext cx="507492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82512" y="1426464"/>
            <a:ext cx="493776" cy="493776"/>
          </a:xfrm>
          <a:prstGeom prst="ellipse">
            <a:avLst/>
          </a:prstGeom>
          <a:solidFill>
            <a:srgbClr val="E8F1F8"/>
          </a:solidFill>
          <a:ln w="10160"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1389888"/>
            <a:ext cx="3886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11F36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1682496"/>
            <a:ext cx="3931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What the proposed work will achieve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2404872"/>
            <a:ext cx="507492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50392" y="2596896"/>
            <a:ext cx="493776" cy="493776"/>
          </a:xfrm>
          <a:prstGeom prst="ellipse">
            <a:avLst/>
          </a:prstGeom>
          <a:solidFill>
            <a:srgbClr val="E8F1F8"/>
          </a:solidFill>
          <a:ln w="10160"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0472" y="2560320"/>
            <a:ext cx="3886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11F36"/>
                </a:solidFill>
                <a:latin typeface="Aptos"/>
              </a:defRPr>
            </a:pPr>
            <a:r>
              <a:t>Literature Survey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90472" y="2852928"/>
            <a:ext cx="3931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12 related research works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2404872"/>
            <a:ext cx="507492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382512" y="2596896"/>
            <a:ext cx="493776" cy="493776"/>
          </a:xfrm>
          <a:prstGeom prst="ellipse">
            <a:avLst/>
          </a:prstGeom>
          <a:solidFill>
            <a:srgbClr val="E8F1F8"/>
          </a:solidFill>
          <a:ln w="10160"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22592" y="2560320"/>
            <a:ext cx="3886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11F36"/>
                </a:solidFill>
                <a:latin typeface="Aptos"/>
              </a:defRPr>
            </a:pPr>
            <a:r>
              <a:t>Research Gaps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22592" y="2852928"/>
            <a:ext cx="3931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Limitations synthesized into gaps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3575304"/>
            <a:ext cx="507492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50392" y="3767328"/>
            <a:ext cx="493776" cy="493776"/>
          </a:xfrm>
          <a:prstGeom prst="ellipse">
            <a:avLst/>
          </a:prstGeom>
          <a:solidFill>
            <a:srgbClr val="E8F1F8"/>
          </a:solidFill>
          <a:ln w="10160"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90472" y="3730752"/>
            <a:ext cx="3886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11F36"/>
                </a:solidFill>
                <a:latin typeface="Aptos"/>
              </a:defRPr>
            </a:pPr>
            <a:r>
              <a:t>Innovation &amp; Novelty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90472" y="4023360"/>
            <a:ext cx="3931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What is improved / introduced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3575304"/>
            <a:ext cx="507492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382512" y="3767328"/>
            <a:ext cx="493776" cy="493776"/>
          </a:xfrm>
          <a:prstGeom prst="ellipse">
            <a:avLst/>
          </a:prstGeom>
          <a:solidFill>
            <a:srgbClr val="E8F1F8"/>
          </a:solidFill>
          <a:ln w="10160"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22592" y="3730752"/>
            <a:ext cx="3886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11F36"/>
                </a:solidFill>
                <a:latin typeface="Aptos"/>
              </a:defRPr>
            </a:pPr>
            <a:r>
              <a:t>Feasibility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22592" y="4023360"/>
            <a:ext cx="3931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Why the project is implementable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4745736"/>
            <a:ext cx="507492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50392" y="4937759"/>
            <a:ext cx="493776" cy="493776"/>
          </a:xfrm>
          <a:prstGeom prst="ellipse">
            <a:avLst/>
          </a:prstGeom>
          <a:solidFill>
            <a:srgbClr val="E8F1F8"/>
          </a:solidFill>
          <a:ln w="10160"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0472" y="4901183"/>
            <a:ext cx="3886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11F36"/>
                </a:solidFill>
                <a:latin typeface="Aptos"/>
              </a:defRPr>
            </a:pPr>
            <a:r>
              <a:t>Project Plan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90472" y="5193792"/>
            <a:ext cx="3931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Execution phases and milestones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4745736"/>
            <a:ext cx="507492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382512" y="4937759"/>
            <a:ext cx="493776" cy="493776"/>
          </a:xfrm>
          <a:prstGeom prst="ellipse">
            <a:avLst/>
          </a:prstGeom>
          <a:solidFill>
            <a:srgbClr val="E8F1F8"/>
          </a:solidFill>
          <a:ln w="10160"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22592" y="4901183"/>
            <a:ext cx="3886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11F36"/>
                </a:solidFill>
                <a:latin typeface="Aptos"/>
              </a:defRPr>
            </a:pPr>
            <a:r>
              <a:t>Methodology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22592" y="5193792"/>
            <a:ext cx="3931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End-to-end TEA-GNN workflow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73152"/>
            <a:ext cx="917448" cy="3931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65960" y="73152"/>
            <a:ext cx="8915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10" name="Oval 9"/>
          <p:cNvSpPr/>
          <p:nvPr/>
        </p:nvSpPr>
        <p:spPr>
          <a:xfrm>
            <a:off x="11201400" y="155448"/>
            <a:ext cx="365760" cy="365760"/>
          </a:xfrm>
          <a:prstGeom prst="ellipse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832104"/>
            <a:ext cx="960120" cy="45720"/>
          </a:xfrm>
          <a:prstGeom prst="rect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234440"/>
            <a:ext cx="6492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  <a:latin typeface="Aptos"/>
              </a:defRPr>
            </a:pPr>
            <a:r>
              <a:t>Fraud is a network problem — not just a transaction problem.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057400"/>
            <a:ext cx="58978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0">
                <a:solidFill>
                  <a:srgbClr val="68717A"/>
                </a:solidFill>
                <a:latin typeface="Aptos"/>
              </a:defRPr>
            </a:pPr>
            <a:r>
              <a:rPr sz="1200"/>
              <a:t>Traditional rule-based and transaction-level ML systems can miss coordinated behavior because they inspect records independently. This makes hidden fraud rings, shared devices and unusual relationship patterns difficult to capture.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234440"/>
            <a:ext cx="4114800" cy="4389120"/>
          </a:xfrm>
          <a:prstGeom prst="round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35240" y="1508760"/>
            <a:ext cx="3566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9857E"/>
                </a:solidFill>
                <a:latin typeface="Aptos"/>
              </a:defRPr>
            </a:pPr>
            <a:r>
              <a:t>CONNECTED FRAUD PATTERN</a:t>
            </a:r>
          </a:p>
        </p:txBody>
      </p:sp>
      <p:sp>
        <p:nvSpPr>
          <p:cNvPr id="16" name="Oval 15"/>
          <p:cNvSpPr/>
          <p:nvPr/>
        </p:nvSpPr>
        <p:spPr>
          <a:xfrm>
            <a:off x="8887968" y="2057400"/>
            <a:ext cx="713232" cy="713232"/>
          </a:xfrm>
          <a:prstGeom prst="ellipse">
            <a:avLst/>
          </a:prstGeom>
          <a:solidFill>
            <a:srgbClr val="1E5C91"/>
          </a:solidFill>
          <a:ln w="10160">
            <a:solidFill>
              <a:srgbClr val="1E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7" name="Oval 16"/>
          <p:cNvSpPr/>
          <p:nvPr/>
        </p:nvSpPr>
        <p:spPr>
          <a:xfrm>
            <a:off x="7909560" y="3063240"/>
            <a:ext cx="713232" cy="713232"/>
          </a:xfrm>
          <a:prstGeom prst="ellipse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8" name="Oval 17"/>
          <p:cNvSpPr/>
          <p:nvPr/>
        </p:nvSpPr>
        <p:spPr>
          <a:xfrm>
            <a:off x="9829800" y="3063240"/>
            <a:ext cx="713232" cy="713232"/>
          </a:xfrm>
          <a:prstGeom prst="ellipse">
            <a:avLst/>
          </a:prstGeom>
          <a:solidFill>
            <a:srgbClr val="CA9D41"/>
          </a:solidFill>
          <a:ln w="10160">
            <a:solidFill>
              <a:srgbClr val="CA9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M</a:t>
            </a:r>
          </a:p>
        </p:txBody>
      </p:sp>
      <p:sp>
        <p:nvSpPr>
          <p:cNvPr id="19" name="Oval 18"/>
          <p:cNvSpPr/>
          <p:nvPr/>
        </p:nvSpPr>
        <p:spPr>
          <a:xfrm>
            <a:off x="8887968" y="4160520"/>
            <a:ext cx="713232" cy="713232"/>
          </a:xfrm>
          <a:prstGeom prst="ellipse">
            <a:avLst/>
          </a:prstGeom>
          <a:solidFill>
            <a:srgbClr val="4FAEBA"/>
          </a:solidFill>
          <a:ln w="10160">
            <a:solidFill>
              <a:srgbClr val="4FAE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0" name="Oval 19"/>
          <p:cNvSpPr/>
          <p:nvPr/>
        </p:nvSpPr>
        <p:spPr>
          <a:xfrm>
            <a:off x="10561320" y="4160520"/>
            <a:ext cx="713232" cy="713232"/>
          </a:xfrm>
          <a:prstGeom prst="ellipse">
            <a:avLst/>
          </a:prstGeom>
          <a:solidFill>
            <a:srgbClr val="B83535"/>
          </a:solidFill>
          <a:ln w="10160">
            <a:solidFill>
              <a:srgbClr val="B8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T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8458200" y="2697480"/>
            <a:ext cx="777240" cy="548640"/>
          </a:xfrm>
          <a:prstGeom prst="line">
            <a:avLst/>
          </a:prstGeom>
          <a:ln w="25400">
            <a:solidFill>
              <a:srgbClr val="D3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235440" y="2697480"/>
            <a:ext cx="822960" cy="548640"/>
          </a:xfrm>
          <a:prstGeom prst="line">
            <a:avLst/>
          </a:prstGeom>
          <a:ln w="25400">
            <a:solidFill>
              <a:srgbClr val="D3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458200" y="3776472"/>
            <a:ext cx="777240" cy="384048"/>
          </a:xfrm>
          <a:prstGeom prst="line">
            <a:avLst/>
          </a:prstGeom>
          <a:ln w="25400">
            <a:solidFill>
              <a:srgbClr val="D3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9235440" y="3776472"/>
            <a:ext cx="914400" cy="384048"/>
          </a:xfrm>
          <a:prstGeom prst="line">
            <a:avLst/>
          </a:prstGeom>
          <a:ln w="25400">
            <a:solidFill>
              <a:srgbClr val="D3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9582912" y="4507992"/>
            <a:ext cx="612648" cy="0"/>
          </a:xfrm>
          <a:prstGeom prst="line">
            <a:avLst/>
          </a:prstGeom>
          <a:ln w="25400">
            <a:solidFill>
              <a:srgbClr val="D3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26679" y="5074920"/>
            <a:ext cx="3383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11F36"/>
                </a:solidFill>
                <a:latin typeface="Aptos"/>
              </a:defRPr>
            </a:pPr>
            <a:r>
              <a:t>GNN learns relationships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3154680"/>
            <a:ext cx="192024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0392" y="3493008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B83535"/>
                </a:solidFill>
                <a:latin typeface="Aptos"/>
              </a:defRPr>
            </a:pPr>
            <a:r>
              <a:t>ISOLATED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" y="3749039"/>
            <a:ext cx="1645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68717A"/>
                </a:solidFill>
                <a:latin typeface="Aptos"/>
              </a:defRPr>
            </a:pPr>
            <a:r>
              <a:t>One transaction at a time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89504" y="3154680"/>
            <a:ext cx="192024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026664" y="3493008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9857E"/>
                </a:solidFill>
                <a:latin typeface="Aptos"/>
              </a:defRPr>
            </a:pPr>
            <a:r>
              <a:t>RELATIONAL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26664" y="3749039"/>
            <a:ext cx="1645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68717A"/>
                </a:solidFill>
                <a:latin typeface="Aptos"/>
              </a:defRPr>
            </a:pPr>
            <a:r>
              <a:t>Entities + interactions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65776" y="3154680"/>
            <a:ext cx="192024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02936" y="3493008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E5C91"/>
                </a:solidFill>
                <a:latin typeface="Aptos"/>
              </a:defRPr>
            </a:pPr>
            <a:r>
              <a:t>INTELLIGENT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02936" y="3749039"/>
            <a:ext cx="1645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68717A"/>
                </a:solidFill>
                <a:latin typeface="Aptos"/>
              </a:defRPr>
            </a:pPr>
            <a:r>
              <a:t>Risk + explanation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73152"/>
            <a:ext cx="917448" cy="39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DD7F1-012C-ECD9-7F3F-B57EDD02E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65960" y="73152"/>
            <a:ext cx="8915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10" name="Oval 9"/>
          <p:cNvSpPr/>
          <p:nvPr/>
        </p:nvSpPr>
        <p:spPr>
          <a:xfrm>
            <a:off x="11201400" y="155448"/>
            <a:ext cx="365760" cy="365760"/>
          </a:xfrm>
          <a:prstGeom prst="ellipse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832104"/>
            <a:ext cx="960120" cy="45720"/>
          </a:xfrm>
          <a:prstGeom prst="rect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170432"/>
            <a:ext cx="5029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111F36"/>
                </a:solidFill>
                <a:latin typeface="Aptos"/>
              </a:defRPr>
            </a:pPr>
            <a:r>
              <a:t>Each objective answers a research need.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1691640"/>
            <a:ext cx="438912" cy="438912"/>
          </a:xfrm>
          <a:prstGeom prst="ellipse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682496"/>
            <a:ext cx="9601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262F39"/>
                </a:solidFill>
                <a:latin typeface="Aptos"/>
              </a:defRPr>
            </a:pPr>
            <a:r>
              <a:t>Build a heterogeneous financial transaction graph.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2130552"/>
            <a:ext cx="22860" cy="347472"/>
          </a:xfrm>
          <a:prstGeom prst="rect">
            <a:avLst/>
          </a:prstGeom>
          <a:solidFill>
            <a:srgbClr val="D3DBE1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31520" y="2496312"/>
            <a:ext cx="438912" cy="438912"/>
          </a:xfrm>
          <a:prstGeom prst="ellipse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487168"/>
            <a:ext cx="9601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262F39"/>
                </a:solidFill>
                <a:latin typeface="Aptos"/>
              </a:defRPr>
            </a:pPr>
            <a:r>
              <a:t>Learn temporal, behavioral and relational patterns.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2935224"/>
            <a:ext cx="22860" cy="347472"/>
          </a:xfrm>
          <a:prstGeom prst="rect">
            <a:avLst/>
          </a:prstGeom>
          <a:solidFill>
            <a:srgbClr val="D3DBE1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31520" y="3300984"/>
            <a:ext cx="438912" cy="438912"/>
          </a:xfrm>
          <a:prstGeom prst="ellipse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291840"/>
            <a:ext cx="9601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262F39"/>
                </a:solidFill>
                <a:latin typeface="Aptos"/>
              </a:defRPr>
            </a:pPr>
            <a:r>
              <a:t>Reduce class-imbalance bias and false positives.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3739896"/>
            <a:ext cx="22860" cy="347472"/>
          </a:xfrm>
          <a:prstGeom prst="rect">
            <a:avLst/>
          </a:prstGeom>
          <a:solidFill>
            <a:srgbClr val="D3DBE1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31520" y="4105656"/>
            <a:ext cx="438912" cy="438912"/>
          </a:xfrm>
          <a:prstGeom prst="ellipse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096512"/>
            <a:ext cx="9601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262F39"/>
                </a:solidFill>
                <a:latin typeface="Aptos"/>
              </a:defRPr>
            </a:pPr>
            <a:r>
              <a:t>Produce explainable fraud risk scores.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544568"/>
            <a:ext cx="22860" cy="347472"/>
          </a:xfrm>
          <a:prstGeom prst="rect">
            <a:avLst/>
          </a:prstGeom>
          <a:solidFill>
            <a:srgbClr val="D3DBE1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31520" y="4910328"/>
            <a:ext cx="438912" cy="438912"/>
          </a:xfrm>
          <a:prstGeom prst="ellipse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901184"/>
            <a:ext cx="9601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262F39"/>
                </a:solidFill>
                <a:latin typeface="Aptos"/>
              </a:defRPr>
            </a:pPr>
            <a:r>
              <a:t>Compare against ML and GNN baselines.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58200" y="1234440"/>
            <a:ext cx="2926080" cy="4251960"/>
          </a:xfrm>
          <a:prstGeom prst="round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59952" y="1554480"/>
            <a:ext cx="2331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4FAEBA"/>
                </a:solidFill>
                <a:latin typeface="Aptos"/>
              </a:defRPr>
            </a:pPr>
            <a:r>
              <a:t>PROPOSED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05088" y="2245519"/>
            <a:ext cx="246888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ptos"/>
              </a:defRPr>
            </a:pPr>
            <a:r>
              <a:rPr dirty="0"/>
              <a:t>GNN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3063240"/>
            <a:ext cx="22860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DAE6ED"/>
                </a:solidFill>
                <a:latin typeface="Aptos"/>
              </a:defRPr>
            </a:pPr>
            <a:r>
              <a:t>Temporal</a:t>
            </a:r>
            <a:br/>
            <a:r>
              <a:t>+</a:t>
            </a:r>
            <a:br/>
            <a:r>
              <a:t>Explainable</a:t>
            </a:r>
            <a:br/>
            <a:r>
              <a:t>+</a:t>
            </a:r>
            <a:br/>
            <a:r>
              <a:t>Adaptive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4709160"/>
            <a:ext cx="2377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4FAEBA"/>
                </a:solidFill>
                <a:latin typeface="Aptos"/>
              </a:defRPr>
            </a:pPr>
            <a:r>
              <a:t>Research-driven enhancement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73152"/>
            <a:ext cx="917448" cy="39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483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65960" y="73152"/>
            <a:ext cx="8915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LITERATURE SURVEY — I</a:t>
            </a:r>
          </a:p>
        </p:txBody>
      </p:sp>
      <p:sp>
        <p:nvSpPr>
          <p:cNvPr id="12" name="Oval 11"/>
          <p:cNvSpPr/>
          <p:nvPr/>
        </p:nvSpPr>
        <p:spPr>
          <a:xfrm>
            <a:off x="11201400" y="155448"/>
            <a:ext cx="365760" cy="365760"/>
          </a:xfrm>
          <a:prstGeom prst="ellipse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832104"/>
            <a:ext cx="960120" cy="45720"/>
          </a:xfrm>
          <a:prstGeom prst="rect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1115568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8717A"/>
                </a:solidFill>
                <a:latin typeface="Aptos"/>
              </a:defRPr>
            </a:pPr>
            <a:r>
              <a:t>12-paper review: model → outcome → limitation → dataset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536192"/>
            <a:ext cx="2971800" cy="34747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1600200"/>
            <a:ext cx="28803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PAPER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20439" y="1536192"/>
            <a:ext cx="1325880" cy="34747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66159" y="1600200"/>
            <a:ext cx="1234439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2040" y="1536192"/>
            <a:ext cx="2331720" cy="34747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59" y="1600200"/>
            <a:ext cx="2240279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KEY OUTCOME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9479" y="1536192"/>
            <a:ext cx="3154680" cy="34747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199" y="1600200"/>
            <a:ext cx="30632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LIMITATION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69880" y="1536192"/>
            <a:ext cx="1600200" cy="34747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15600" y="1600200"/>
            <a:ext cx="15087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1938528"/>
            <a:ext cx="29718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57784" y="1993392"/>
            <a:ext cx="28620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Alleviating the Inconsistency Problem of Applying Graph Neural Network to Fraud Detection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39" y="1938528"/>
            <a:ext cx="132588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75303" y="1993392"/>
            <a:ext cx="12161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1">
                <a:solidFill>
                  <a:srgbClr val="111F36"/>
                </a:solidFill>
                <a:latin typeface="Aptos"/>
              </a:defRPr>
            </a:pPr>
            <a:r>
              <a:t>GraphConsis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92040" y="1938528"/>
            <a:ext cx="233172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46903" y="1993392"/>
            <a:ext cx="222199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Filters context-, feature-, and relation-inconsistent neighbors; improves fraud-node representation.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69479" y="1938528"/>
            <a:ext cx="315468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24344" y="1993392"/>
            <a:ext cx="30449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Static graph setting; temporal evolution, real-time deployment, and explanation are not central.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469880" y="1938528"/>
            <a:ext cx="16002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524744" y="1993392"/>
            <a:ext cx="14904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YelpChi; Amazon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2596896"/>
            <a:ext cx="297180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57784" y="2651760"/>
            <a:ext cx="28620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Enhancing Graph Neural Network-based Fraud Detectors against Camouflaged Fraudsters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39" y="2596896"/>
            <a:ext cx="132588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75303" y="2651760"/>
            <a:ext cx="12161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1">
                <a:solidFill>
                  <a:srgbClr val="111F36"/>
                </a:solidFill>
                <a:latin typeface="Aptos"/>
              </a:defRPr>
            </a:pPr>
            <a:r>
              <a:t>CARE-GNN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92040" y="2596896"/>
            <a:ext cx="233172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946903" y="2651760"/>
            <a:ext cx="222199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Uses label-aware similarity, RL-based neighbor selection, and relation-aware aggregation to resist camouflage.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69479" y="2596896"/>
            <a:ext cx="315468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24344" y="2651760"/>
            <a:ext cx="30449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RL-based neighbor selection adds complexity; temporal modeling and explicit XAI are not core components.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469880" y="2596896"/>
            <a:ext cx="160020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524744" y="2651760"/>
            <a:ext cx="14904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YelpChi; Amazon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3255264"/>
            <a:ext cx="29718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57784" y="3310128"/>
            <a:ext cx="28620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Pick and Choose: A GNN-based Imbalanced Learning Approach for Fraud Detection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39" y="3255264"/>
            <a:ext cx="132588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575303" y="3310128"/>
            <a:ext cx="12161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1">
                <a:solidFill>
                  <a:srgbClr val="111F36"/>
                </a:solidFill>
                <a:latin typeface="Aptos"/>
              </a:defRPr>
            </a:pPr>
            <a:r>
              <a:t>PC-GNN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92040" y="3255264"/>
            <a:ext cx="233172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946903" y="3310128"/>
            <a:ext cx="222199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Label-balanced node/edge sampling improves learning under severe class imbalance.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69479" y="3255264"/>
            <a:ext cx="315468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324344" y="3310128"/>
            <a:ext cx="30449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Sampling can trade off graph information for balance; mainly supervised and not designed for temporal drift.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469880" y="3255264"/>
            <a:ext cx="16002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524744" y="3310128"/>
            <a:ext cx="14904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YelpChi; Amazon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3913632"/>
            <a:ext cx="297180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57784" y="3968496"/>
            <a:ext cx="28620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Rethinking Graph Neural Networks for Anomaly Detection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20439" y="3913632"/>
            <a:ext cx="132588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575303" y="3968496"/>
            <a:ext cx="12161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1">
                <a:solidFill>
                  <a:srgbClr val="111F36"/>
                </a:solidFill>
                <a:latin typeface="Aptos"/>
              </a:defRPr>
            </a:pPr>
            <a:r>
              <a:t>BWGNN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892040" y="3913632"/>
            <a:ext cx="233172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946903" y="3968496"/>
            <a:ext cx="222199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Beta Wavelet GNN captures high-frequency anomaly signals and improves graph anomaly detection.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269479" y="3913632"/>
            <a:ext cx="315468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324344" y="3968496"/>
            <a:ext cx="30449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Spectral filtering is computationally involved and can be less adaptable to newly inserted nodes/dynamic graphs.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469880" y="3913632"/>
            <a:ext cx="160020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524744" y="3968496"/>
            <a:ext cx="14904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YelpChi; Amazon; T-Finance; T-Social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2920" y="4572000"/>
            <a:ext cx="29718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57784" y="4626864"/>
            <a:ext cx="28620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Energy Transformer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520439" y="4572000"/>
            <a:ext cx="132588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575303" y="4626864"/>
            <a:ext cx="12161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1">
                <a:solidFill>
                  <a:srgbClr val="111F36"/>
                </a:solidFill>
                <a:latin typeface="Aptos"/>
              </a:defRPr>
            </a:pPr>
            <a:r>
              <a:t>Energy Transformer (ET)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892040" y="4572000"/>
            <a:ext cx="233172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946903" y="4626864"/>
            <a:ext cx="222199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Energy-based attention gives strong anomaly-detection results across four graph datasets.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269479" y="4572000"/>
            <a:ext cx="315468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324344" y="4626864"/>
            <a:ext cx="30449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Evaluation uses homogeneous graphs and 1-hop attention; financial-specific interpretability and temporal behavior remain limited.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469880" y="4572000"/>
            <a:ext cx="16002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0524744" y="4626864"/>
            <a:ext cx="14904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YelpChi; Amazon; T-Finance; T-Social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2920" y="5230368"/>
            <a:ext cx="297180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57784" y="5285231"/>
            <a:ext cx="28620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Financial transaction fraud detector based on imbalance learning and graph neural network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520439" y="5230368"/>
            <a:ext cx="132588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575303" y="5285231"/>
            <a:ext cx="12161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1">
                <a:solidFill>
                  <a:srgbClr val="111F36"/>
                </a:solidFill>
                <a:latin typeface="Aptos"/>
              </a:defRPr>
            </a:pPr>
            <a:r>
              <a:t>HHLN-GNN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892040" y="5230368"/>
            <a:ext cx="233172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946903" y="5285231"/>
            <a:ext cx="222199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Subgraph generation, neighborhood sampling and self-attention improve F1/AUC/GMean on public fraud benchmarks.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269479" y="5230368"/>
            <a:ext cx="315468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324344" y="5285231"/>
            <a:ext cx="30449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Complexity of sampling/attention remains; explainability and real-time banking deployment are not the main focus.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469880" y="5230368"/>
            <a:ext cx="160020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0524744" y="5285231"/>
            <a:ext cx="14904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YelpChi; Amazon; Elliptic; T-Finance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8640" y="6007608"/>
            <a:ext cx="10972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68717A"/>
                </a:solidFill>
                <a:latin typeface="Aptos"/>
              </a:defRPr>
            </a:pPr>
            <a:r>
              <a:t>Limitation wording is used for research-gap synthesis; it does not imply every limitation is a failure claimed by the original authors.</a:t>
            </a:r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73152"/>
            <a:ext cx="917448" cy="3931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65960" y="73152"/>
            <a:ext cx="8915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LITERATURE SURVEY — II</a:t>
            </a:r>
          </a:p>
        </p:txBody>
      </p:sp>
      <p:sp>
        <p:nvSpPr>
          <p:cNvPr id="10" name="Oval 9"/>
          <p:cNvSpPr/>
          <p:nvPr/>
        </p:nvSpPr>
        <p:spPr>
          <a:xfrm>
            <a:off x="11201400" y="155448"/>
            <a:ext cx="365760" cy="365760"/>
          </a:xfrm>
          <a:prstGeom prst="ellipse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832104"/>
            <a:ext cx="960120" cy="45720"/>
          </a:xfrm>
          <a:prstGeom prst="rect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115568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8717A"/>
                </a:solidFill>
                <a:latin typeface="Aptos"/>
              </a:defRPr>
            </a:pPr>
            <a:r>
              <a:t>12-paper review: model → outcome → limitation → dataset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536192"/>
            <a:ext cx="2971800" cy="34747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1600200"/>
            <a:ext cx="28803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PAPER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39" y="1536192"/>
            <a:ext cx="1325880" cy="34747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66159" y="1600200"/>
            <a:ext cx="1234439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2040" y="1536192"/>
            <a:ext cx="2331720" cy="34747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59" y="1600200"/>
            <a:ext cx="2240279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KEY OUTCOME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9479" y="1536192"/>
            <a:ext cx="3154680" cy="34747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199" y="1600200"/>
            <a:ext cx="30632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LIMITATION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69880" y="1536192"/>
            <a:ext cx="1600200" cy="34747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0" y="1600200"/>
            <a:ext cx="15087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1938528"/>
            <a:ext cx="29718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7784" y="1993392"/>
            <a:ext cx="28620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DGA-GNN: Dynamic Grouping Aggregation GNN for Fraud Detection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20439" y="1938528"/>
            <a:ext cx="132588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75303" y="1993392"/>
            <a:ext cx="12161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1">
                <a:solidFill>
                  <a:srgbClr val="111F36"/>
                </a:solidFill>
                <a:latin typeface="Aptos"/>
              </a:defRPr>
            </a:pPr>
            <a:r>
              <a:t>DGA-GNN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92040" y="1938528"/>
            <a:ext cx="233172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46903" y="1993392"/>
            <a:ext cx="222199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Dynamic grouping of attribute ranges and neighbors improves fraud detection by 3–16% over SOTA in experiments.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69479" y="1938528"/>
            <a:ext cx="315468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24344" y="1993392"/>
            <a:ext cx="30449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Grouping depends on prediction feedback and has limited support for unseen/new nodes and explicit temporal modeling.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469880" y="1938528"/>
            <a:ext cx="16002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524744" y="1993392"/>
            <a:ext cx="14904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Elliptic; T-Finance; T-Social; YelpChi; Amazon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2596896"/>
            <a:ext cx="297180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57784" y="2651760"/>
            <a:ext cx="28620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FraudGT: A Simple, Effective, and Efficient Graph Transformer for Financial Fraud Detection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39" y="2596896"/>
            <a:ext cx="132588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575303" y="2651760"/>
            <a:ext cx="12161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1">
                <a:solidFill>
                  <a:srgbClr val="111F36"/>
                </a:solidFill>
                <a:latin typeface="Aptos"/>
              </a:defRPr>
            </a:pPr>
            <a:r>
              <a:t>FraudGT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92040" y="2596896"/>
            <a:ext cx="233172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946903" y="2651760"/>
            <a:ext cx="222199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Edge-gated message passing and edge-attribute attention improve F1 while increasing throughput and lowering latency.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69479" y="2596896"/>
            <a:ext cx="315468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24344" y="2651760"/>
            <a:ext cx="30449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Still optimized around graph structure/edge attributes; broad XAI, temporal drift, and cross-institution generalization remain open.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469880" y="2596896"/>
            <a:ext cx="160020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524744" y="2651760"/>
            <a:ext cx="14904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Anti-Money Laundering (HI-small) and large-scale financial graphs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3255264"/>
            <a:ext cx="29718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57784" y="3310128"/>
            <a:ext cx="28620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Revisiting Graph-Based Fraud Detection in Sight of Heterophily and Spectrum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39" y="3255264"/>
            <a:ext cx="132588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575303" y="3310128"/>
            <a:ext cx="12161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1">
                <a:solidFill>
                  <a:srgbClr val="111F36"/>
                </a:solidFill>
                <a:latin typeface="Aptos"/>
              </a:defRPr>
            </a:pPr>
            <a:r>
              <a:t>SEC-GFD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92040" y="3255264"/>
            <a:ext cx="233172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946903" y="3310128"/>
            <a:ext cx="222199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High-frequency/heterophily-aware modeling improves F1-macro and AUC across YelpChi, Amazon, T-Finance and T-Social.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69479" y="3255264"/>
            <a:ext cx="315468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324344" y="3310128"/>
            <a:ext cx="30449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Focuses on structural heterophily/spectrum; operational explainability and temporal transaction streams are not fully addressed.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69880" y="3255264"/>
            <a:ext cx="16002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524744" y="3310128"/>
            <a:ext cx="14904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YelpChi; Amazon; T-Finance; T-Social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3913632"/>
            <a:ext cx="297180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57784" y="3968496"/>
            <a:ext cx="28620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Graph neural network for fraud detection via context encoding and adaptive aggregation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20439" y="3913632"/>
            <a:ext cx="132588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575303" y="3968496"/>
            <a:ext cx="12161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1">
                <a:solidFill>
                  <a:srgbClr val="111F36"/>
                </a:solidFill>
                <a:latin typeface="Aptos"/>
              </a:defRPr>
            </a:pPr>
            <a:r>
              <a:t>CAFD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892040" y="3913632"/>
            <a:ext cx="233172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946903" y="3968496"/>
            <a:ext cx="222199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Combines temporal-frequency/out-degree context encoding with adaptive aggregation to handle camouflage and imbalance.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269479" y="3913632"/>
            <a:ext cx="315468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324344" y="3968496"/>
            <a:ext cx="30449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Two real-world datasets only; broader cross-domain validation, explainability and production-scale latency need further study.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469880" y="3913632"/>
            <a:ext cx="160020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524744" y="3968496"/>
            <a:ext cx="14904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Two real-world fraud datasets (paper evaluation)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" y="4572000"/>
            <a:ext cx="29718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57784" y="4626864"/>
            <a:ext cx="28620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Metapath-guided graph neural networks for financial fraud detection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520439" y="4572000"/>
            <a:ext cx="132588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575303" y="4626864"/>
            <a:ext cx="12161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1">
                <a:solidFill>
                  <a:srgbClr val="111F36"/>
                </a:solidFill>
                <a:latin typeface="Aptos"/>
              </a:defRPr>
            </a:pPr>
            <a:r>
              <a:t>Metapath-GNN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892040" y="4572000"/>
            <a:ext cx="233172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946903" y="4626864"/>
            <a:ext cx="222199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Uses metapath subgraphs, attention-based sampling and global/local fusion; reports gains on multiple benchmarks.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269479" y="4572000"/>
            <a:ext cx="315468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324344" y="4626864"/>
            <a:ext cx="30449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Predefined metapaths and subgraph generation can add computational cost and design dependence; interpretability is not the main contribution.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469880" y="4572000"/>
            <a:ext cx="16002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0524744" y="4626864"/>
            <a:ext cx="14904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YelpChi; Amazon; Elliptic; T-Finance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2920" y="5230368"/>
            <a:ext cx="297180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57784" y="5285231"/>
            <a:ext cx="28620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A novel graph learning framework for interpretable and imbalance financial fraud detection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520439" y="5230368"/>
            <a:ext cx="132588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575303" y="5285231"/>
            <a:ext cx="12161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1">
                <a:solidFill>
                  <a:srgbClr val="111F36"/>
                </a:solidFill>
                <a:latin typeface="Aptos"/>
              </a:defRPr>
            </a:pPr>
            <a:r>
              <a:t>IFDetector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892040" y="5230368"/>
            <a:ext cx="233172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946903" y="5285231"/>
            <a:ext cx="222199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Combines adaptive spectral filtering, structure-aware sampling and contrastive learning with built-in interpretability.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269479" y="5230368"/>
            <a:ext cx="315468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324344" y="5285231"/>
            <a:ext cx="30449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Strong but complex architecture; practical real-time integration, evolving graphs and cross-institution privacy remain open.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469880" y="5230368"/>
            <a:ext cx="160020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0524744" y="5285231"/>
            <a:ext cx="14904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Three public financial fraud benchmarks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8640" y="6007608"/>
            <a:ext cx="10972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68717A"/>
                </a:solidFill>
                <a:latin typeface="Aptos"/>
              </a:defRPr>
            </a:pPr>
            <a:r>
              <a:t>Limitation wording is used for research-gap synthesis; it does not imply every limitation is a failure claimed by the original authors.</a:t>
            </a:r>
          </a:p>
        </p:txBody>
      </p:sp>
      <p:pic>
        <p:nvPicPr>
          <p:cNvPr id="84" name="Picture 8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73152"/>
            <a:ext cx="917448" cy="3931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65960" y="73152"/>
            <a:ext cx="8915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Research Gaps</a:t>
            </a:r>
          </a:p>
        </p:txBody>
      </p:sp>
      <p:sp>
        <p:nvSpPr>
          <p:cNvPr id="10" name="Oval 9"/>
          <p:cNvSpPr/>
          <p:nvPr/>
        </p:nvSpPr>
        <p:spPr>
          <a:xfrm>
            <a:off x="11201400" y="155448"/>
            <a:ext cx="365760" cy="36576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201400" y="164592"/>
            <a:ext cx="365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832104"/>
            <a:ext cx="960120" cy="45720"/>
          </a:xfrm>
          <a:prstGeom prst="rect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115568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8717A"/>
                </a:solidFill>
                <a:latin typeface="Aptos"/>
              </a:defRPr>
            </a:pPr>
            <a:r>
              <a:t>Collective limitations are converted into specific research directions.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1600200"/>
            <a:ext cx="3456432" cy="1536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22959" y="1764792"/>
            <a:ext cx="457200" cy="45720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59" y="1773936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G1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19" y="1764792"/>
            <a:ext cx="24688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11F36"/>
                </a:solidFill>
                <a:latin typeface="Aptos"/>
              </a:defRPr>
            </a:pPr>
            <a:r>
              <a:t>Temporal Adaptation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2286000"/>
            <a:ext cx="3063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Model evolving transaction behavior rather than relying mainly on static structure.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53128" y="1600200"/>
            <a:ext cx="3456432" cy="1536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617720" y="1764792"/>
            <a:ext cx="457200" cy="457200"/>
          </a:xfrm>
          <a:prstGeom prst="ellipse">
            <a:avLst/>
          </a:prstGeom>
          <a:solidFill>
            <a:srgbClr val="1E5C91"/>
          </a:solidFill>
          <a:ln>
            <a:solidFill>
              <a:srgbClr val="1E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17720" y="1773936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G2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1764792"/>
            <a:ext cx="24688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11F36"/>
                </a:solidFill>
                <a:latin typeface="Aptos"/>
              </a:defRPr>
            </a:pPr>
            <a:r>
              <a:t>Imbalance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2286000"/>
            <a:ext cx="3063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Protect rare fraud patterns during training and reduce false positives.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47888" y="1600200"/>
            <a:ext cx="3456432" cy="1536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412480" y="1764792"/>
            <a:ext cx="457200" cy="457200"/>
          </a:xfrm>
          <a:prstGeom prst="ellipse">
            <a:avLst/>
          </a:prstGeom>
          <a:solidFill>
            <a:srgbClr val="B83535"/>
          </a:solidFill>
          <a:ln>
            <a:solidFill>
              <a:srgbClr val="B8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0" y="1773936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G3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1764792"/>
            <a:ext cx="24688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11F36"/>
                </a:solidFill>
                <a:latin typeface="Aptos"/>
              </a:defRPr>
            </a:pPr>
            <a:r>
              <a:t>Neighbor Reliability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286000"/>
            <a:ext cx="3063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Handle noisy, heterophilic and camouflaged neighbors.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474720"/>
            <a:ext cx="3456432" cy="1536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22959" y="3639312"/>
            <a:ext cx="457200" cy="457200"/>
          </a:xfrm>
          <a:prstGeom prst="ellipse">
            <a:avLst/>
          </a:prstGeom>
          <a:solidFill>
            <a:srgbClr val="CA9D41"/>
          </a:solidFill>
          <a:ln>
            <a:solidFill>
              <a:srgbClr val="CA9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59" y="3648456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G4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19" y="3639312"/>
            <a:ext cx="24688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11F36"/>
                </a:solidFill>
                <a:latin typeface="Aptos"/>
              </a:defRPr>
            </a:pPr>
            <a:r>
              <a:t>Explainability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" y="4160520"/>
            <a:ext cx="3063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Make evidence part of the fraud decision workflow.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53128" y="3474720"/>
            <a:ext cx="3456432" cy="1536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617720" y="3639312"/>
            <a:ext cx="457200" cy="457200"/>
          </a:xfrm>
          <a:prstGeom prst="ellipse">
            <a:avLst/>
          </a:prstGeom>
          <a:solidFill>
            <a:srgbClr val="4FAEBA"/>
          </a:solidFill>
          <a:ln>
            <a:solidFill>
              <a:srgbClr val="4FAE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17720" y="3648456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G5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3639312"/>
            <a:ext cx="24688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11F36"/>
                </a:solidFill>
                <a:latin typeface="Aptos"/>
              </a:defRPr>
            </a:pPr>
            <a:r>
              <a:t>Scalability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4160520"/>
            <a:ext cx="3063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Measure and control inference cost for larger graphs.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47888" y="3474720"/>
            <a:ext cx="3456432" cy="1536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412480" y="3639312"/>
            <a:ext cx="457200" cy="457200"/>
          </a:xfrm>
          <a:prstGeom prst="ellipse">
            <a:avLst/>
          </a:prstGeom>
          <a:solidFill>
            <a:srgbClr val="538965"/>
          </a:solidFill>
          <a:ln>
            <a:solidFill>
              <a:srgbClr val="538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412480" y="3648456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G6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6840" y="3639312"/>
            <a:ext cx="24688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11F36"/>
                </a:solidFill>
                <a:latin typeface="Aptos"/>
              </a:defRPr>
            </a:pPr>
            <a:r>
              <a:t>Generalization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4160520"/>
            <a:ext cx="3063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Validate across complementary datasets and transaction settings.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73152"/>
            <a:ext cx="917448" cy="39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65960" y="73152"/>
            <a:ext cx="8915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Innovation • Creativity • Novelty</a:t>
            </a:r>
          </a:p>
        </p:txBody>
      </p:sp>
      <p:sp>
        <p:nvSpPr>
          <p:cNvPr id="11" name="Oval 10"/>
          <p:cNvSpPr/>
          <p:nvPr/>
        </p:nvSpPr>
        <p:spPr>
          <a:xfrm>
            <a:off x="11201400" y="155448"/>
            <a:ext cx="365760" cy="36576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01400" y="164592"/>
            <a:ext cx="365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832104"/>
            <a:ext cx="960120" cy="45720"/>
          </a:xfrm>
          <a:prstGeom prst="rect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58368" y="1417320"/>
            <a:ext cx="3456432" cy="2971800"/>
          </a:xfrm>
          <a:prstGeom prst="roundRect">
            <a:avLst/>
          </a:prstGeom>
          <a:solidFill>
            <a:srgbClr val="E8F1F8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41247" y="1664208"/>
            <a:ext cx="512064" cy="512064"/>
          </a:xfrm>
          <a:prstGeom prst="ellipse">
            <a:avLst/>
          </a:prstGeom>
          <a:solidFill>
            <a:srgbClr val="1E5C91"/>
          </a:solidFill>
          <a:ln>
            <a:solidFill>
              <a:srgbClr val="1E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7" y="1673352"/>
            <a:ext cx="512064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1673352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E5C91"/>
                </a:solidFill>
                <a:latin typeface="Aptos"/>
              </a:defRPr>
            </a:pPr>
            <a:r>
              <a:t>INNOVATION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2423160"/>
            <a:ext cx="30175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11F36"/>
                </a:solidFill>
                <a:latin typeface="Aptos"/>
              </a:defRPr>
            </a:pPr>
            <a:r>
              <a:t>Temporal + adaptive graph learning combines evolving behavior with relation-aware aggregation.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5696" y="1417320"/>
            <a:ext cx="3456432" cy="2971800"/>
          </a:xfrm>
          <a:prstGeom prst="roundRect">
            <a:avLst/>
          </a:prstGeom>
          <a:solidFill>
            <a:srgbClr val="E7F5F3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608576" y="1664208"/>
            <a:ext cx="512064" cy="512064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08576" y="1673352"/>
            <a:ext cx="512064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4376" y="1673352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9857E"/>
                </a:solidFill>
                <a:latin typeface="Aptos"/>
              </a:defRPr>
            </a:pPr>
            <a:r>
              <a:t>CREATIVITY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8576" y="2423160"/>
            <a:ext cx="30175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11F36"/>
                </a:solidFill>
                <a:latin typeface="Aptos"/>
              </a:defRPr>
            </a:pPr>
            <a:r>
              <a:t>Every alert becomes a risk story: probability + risk tier + influential evidence.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93024" y="1417320"/>
            <a:ext cx="3456432" cy="2971800"/>
          </a:xfrm>
          <a:prstGeom prst="round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375904" y="1664208"/>
            <a:ext cx="512064" cy="512064"/>
          </a:xfrm>
          <a:prstGeom prst="ellipse">
            <a:avLst/>
          </a:prstGeom>
          <a:solidFill>
            <a:srgbClr val="CA9D41"/>
          </a:solidFill>
          <a:ln>
            <a:solidFill>
              <a:srgbClr val="CA9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75904" y="1673352"/>
            <a:ext cx="512064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61704" y="1673352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CA9D41"/>
                </a:solidFill>
                <a:latin typeface="Aptos"/>
              </a:defRPr>
            </a:pPr>
            <a:r>
              <a:t>NOVELTY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5904" y="2423160"/>
            <a:ext cx="30175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11F36"/>
                </a:solidFill>
                <a:latin typeface="Aptos"/>
              </a:defRPr>
            </a:pPr>
            <a:r>
              <a:t>An integrated TEA-GNN pipeline directly maps G1–G6 to implementable modules and experiments.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1560" y="4983480"/>
            <a:ext cx="10058400" cy="640080"/>
          </a:xfrm>
          <a:prstGeom prst="round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234440" y="5138928"/>
            <a:ext cx="9692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Existing Works  →  Limitations  →  Research Gaps  →  TEA-GNN  →  Evidence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73152"/>
            <a:ext cx="917448" cy="3931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3F743-01B3-3879-0894-974C73371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65960" y="73152"/>
            <a:ext cx="8915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Previous Methodology</a:t>
            </a:r>
          </a:p>
        </p:txBody>
      </p:sp>
      <p:sp>
        <p:nvSpPr>
          <p:cNvPr id="11" name="Oval 10"/>
          <p:cNvSpPr/>
          <p:nvPr/>
        </p:nvSpPr>
        <p:spPr>
          <a:xfrm>
            <a:off x="11201400" y="155448"/>
            <a:ext cx="365760" cy="36576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01400" y="164592"/>
            <a:ext cx="365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832104"/>
            <a:ext cx="960120" cy="45720"/>
          </a:xfrm>
          <a:prstGeom prst="rect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1143000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11F36"/>
                </a:solidFill>
                <a:latin typeface="Aptos"/>
              </a:defRPr>
            </a:pPr>
            <a:r>
              <a:t>Conventional approach: powerful classifiers, but limited relational context.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1828800"/>
            <a:ext cx="202996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289304" y="1993392"/>
            <a:ext cx="512064" cy="512064"/>
          </a:xfrm>
          <a:prstGeom prst="ellipse">
            <a:avLst/>
          </a:prstGeom>
          <a:solidFill>
            <a:srgbClr val="111F36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89304" y="2002536"/>
            <a:ext cx="512064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651760"/>
            <a:ext cx="18105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B83535"/>
                </a:solidFill>
                <a:latin typeface="Aptos"/>
              </a:defRPr>
            </a:pPr>
            <a:r>
              <a:t>TRANSACTION 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2999232"/>
            <a:ext cx="17556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0">
                <a:solidFill>
                  <a:srgbClr val="68717A"/>
                </a:solidFill>
                <a:latin typeface="Aptos"/>
              </a:defRPr>
            </a:pPr>
            <a:r>
              <a:t>Rows treated independently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560320" y="2542032"/>
            <a:ext cx="237744" cy="0"/>
          </a:xfrm>
          <a:prstGeom prst="line">
            <a:avLst/>
          </a:prstGeom>
          <a:ln w="25400">
            <a:solidFill>
              <a:srgbClr val="4FAE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34640" y="1828800"/>
            <a:ext cx="202996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593592" y="1993392"/>
            <a:ext cx="512064" cy="512064"/>
          </a:xfrm>
          <a:prstGeom prst="ellipse">
            <a:avLst/>
          </a:prstGeom>
          <a:solidFill>
            <a:srgbClr val="111F36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93592" y="2002536"/>
            <a:ext cx="512064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44368" y="2651760"/>
            <a:ext cx="18105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B83535"/>
                </a:solidFill>
                <a:latin typeface="Aptos"/>
              </a:defRPr>
            </a:pPr>
            <a:r>
              <a:t>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2999232"/>
            <a:ext cx="17556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0">
                <a:solidFill>
                  <a:srgbClr val="68717A"/>
                </a:solidFill>
                <a:latin typeface="Aptos"/>
              </a:defRPr>
            </a:pPr>
            <a:r>
              <a:t>Manual / statistical features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64608" y="2542032"/>
            <a:ext cx="237744" cy="0"/>
          </a:xfrm>
          <a:prstGeom prst="line">
            <a:avLst/>
          </a:prstGeom>
          <a:ln w="25400">
            <a:solidFill>
              <a:srgbClr val="4FAE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138928" y="1828800"/>
            <a:ext cx="202996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897880" y="1993392"/>
            <a:ext cx="512064" cy="512064"/>
          </a:xfrm>
          <a:prstGeom prst="ellipse">
            <a:avLst/>
          </a:prstGeom>
          <a:solidFill>
            <a:srgbClr val="111F36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897880" y="2002536"/>
            <a:ext cx="512064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48656" y="2651760"/>
            <a:ext cx="18105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B83535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76088" y="2999232"/>
            <a:ext cx="17556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0">
                <a:solidFill>
                  <a:srgbClr val="68717A"/>
                </a:solidFill>
                <a:latin typeface="Aptos"/>
              </a:defRPr>
            </a:pPr>
            <a:r>
              <a:t>RF • XGBoost • CNN/LSTM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168896" y="2542032"/>
            <a:ext cx="237744" cy="0"/>
          </a:xfrm>
          <a:prstGeom prst="line">
            <a:avLst/>
          </a:prstGeom>
          <a:ln w="25400">
            <a:solidFill>
              <a:srgbClr val="4FAE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443216" y="1828800"/>
            <a:ext cx="202996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202168" y="1993392"/>
            <a:ext cx="512064" cy="512064"/>
          </a:xfrm>
          <a:prstGeom prst="ellipse">
            <a:avLst/>
          </a:prstGeom>
          <a:solidFill>
            <a:srgbClr val="111F36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02168" y="2002536"/>
            <a:ext cx="512064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52944" y="2651760"/>
            <a:ext cx="18105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B83535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0376" y="2999232"/>
            <a:ext cx="17556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0">
                <a:solidFill>
                  <a:srgbClr val="68717A"/>
                </a:solidFill>
                <a:latin typeface="Aptos"/>
              </a:defRPr>
            </a:pPr>
            <a:r>
              <a:t>Binary fraud label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473184" y="2542032"/>
            <a:ext cx="237744" cy="0"/>
          </a:xfrm>
          <a:prstGeom prst="line">
            <a:avLst/>
          </a:prstGeom>
          <a:ln w="25400">
            <a:solidFill>
              <a:srgbClr val="4FAE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747504" y="1828800"/>
            <a:ext cx="202996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0506456" y="1993392"/>
            <a:ext cx="512064" cy="512064"/>
          </a:xfrm>
          <a:prstGeom prst="ellipse">
            <a:avLst/>
          </a:prstGeom>
          <a:solidFill>
            <a:srgbClr val="111F36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506456" y="2002536"/>
            <a:ext cx="512064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57232" y="2651760"/>
            <a:ext cx="18105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B83535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84664" y="2999232"/>
            <a:ext cx="17556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0">
                <a:solidFill>
                  <a:srgbClr val="68717A"/>
                </a:solidFill>
                <a:latin typeface="Aptos"/>
              </a:defRPr>
            </a:pPr>
            <a:r>
              <a:t>Limited evidence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3886200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11F36"/>
                </a:solidFill>
                <a:latin typeface="Aptos"/>
              </a:defRPr>
            </a:pPr>
            <a:r>
              <a:t>Main limitations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13232" y="4343400"/>
            <a:ext cx="2514600" cy="960120"/>
          </a:xfrm>
          <a:prstGeom prst="round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2960" y="4517136"/>
            <a:ext cx="2286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B83535"/>
                </a:solidFill>
                <a:latin typeface="Aptos"/>
              </a:defRPr>
            </a:pPr>
            <a:r>
              <a:t>Isolated view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484632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8717A"/>
                </a:solidFill>
                <a:latin typeface="Aptos"/>
              </a:defRPr>
            </a:pPr>
            <a:r>
              <a:t>Misses coordinated entities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529584" y="4343400"/>
            <a:ext cx="2514600" cy="960120"/>
          </a:xfrm>
          <a:prstGeom prst="round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639312" y="4517136"/>
            <a:ext cx="2286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B83535"/>
                </a:solidFill>
                <a:latin typeface="Aptos"/>
              </a:defRPr>
            </a:pPr>
            <a:r>
              <a:t>Static behavior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39312" y="484632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8717A"/>
                </a:solidFill>
                <a:latin typeface="Aptos"/>
              </a:defRPr>
            </a:pPr>
            <a:r>
              <a:t>Weak on evolving fraud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45936" y="4343400"/>
            <a:ext cx="2514600" cy="960120"/>
          </a:xfrm>
          <a:prstGeom prst="round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55664" y="4517136"/>
            <a:ext cx="2286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B83535"/>
                </a:solidFill>
                <a:latin typeface="Aptos"/>
              </a:defRPr>
            </a:pPr>
            <a:r>
              <a:t>Class imbalance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55664" y="484632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8717A"/>
                </a:solidFill>
                <a:latin typeface="Aptos"/>
              </a:defRPr>
            </a:pPr>
            <a:r>
              <a:t>Rare fraud is under-learned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62288" y="4343400"/>
            <a:ext cx="2514600" cy="960120"/>
          </a:xfrm>
          <a:prstGeom prst="round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272015" y="4517136"/>
            <a:ext cx="2286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B83535"/>
                </a:solidFill>
                <a:latin typeface="Aptos"/>
              </a:defRPr>
            </a:pPr>
            <a:r>
              <a:t>Black box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72015" y="484632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8717A"/>
                </a:solidFill>
                <a:latin typeface="Aptos"/>
              </a:defRPr>
            </a:pPr>
            <a:r>
              <a:t>Hard to justify alerts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73152"/>
            <a:ext cx="917448" cy="39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414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306BC-0D02-72B5-7962-7CD7174D9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65960" y="73152"/>
            <a:ext cx="8915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New Methodology — TEA-GNN</a:t>
            </a:r>
          </a:p>
        </p:txBody>
      </p:sp>
      <p:sp>
        <p:nvSpPr>
          <p:cNvPr id="14" name="Oval 13"/>
          <p:cNvSpPr/>
          <p:nvPr/>
        </p:nvSpPr>
        <p:spPr>
          <a:xfrm>
            <a:off x="11201400" y="155448"/>
            <a:ext cx="365760" cy="36576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201400" y="164592"/>
            <a:ext cx="365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832104"/>
            <a:ext cx="960120" cy="45720"/>
          </a:xfrm>
          <a:prstGeom prst="rect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66928" y="1325880"/>
            <a:ext cx="257860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13232" y="1481328"/>
            <a:ext cx="438912" cy="438912"/>
          </a:xfrm>
          <a:prstGeom prst="ellipse">
            <a:avLst/>
          </a:prstGeom>
          <a:solidFill>
            <a:srgbClr val="1E5C91"/>
          </a:solidFill>
          <a:ln>
            <a:solidFill>
              <a:srgbClr val="1E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1490472"/>
            <a:ext cx="438912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1490472"/>
            <a:ext cx="1691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19" b="1">
                <a:solidFill>
                  <a:srgbClr val="111F36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039112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68717A"/>
                </a:solidFill>
                <a:latin typeface="Aptos"/>
              </a:defRPr>
            </a:pPr>
            <a:r>
              <a:t>IEEE-CIS • PaySim • Elliptic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65576" y="1325880"/>
            <a:ext cx="257860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611880" y="1481328"/>
            <a:ext cx="438912" cy="438912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11880" y="1490472"/>
            <a:ext cx="438912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78808" y="1490472"/>
            <a:ext cx="1691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19" b="1">
                <a:solidFill>
                  <a:srgbClr val="111F36"/>
                </a:solidFill>
                <a:latin typeface="Aptos"/>
              </a:defRPr>
            </a:pPr>
            <a:r>
              <a:t>GRAPH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30168" y="2039112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68717A"/>
                </a:solidFill>
                <a:latin typeface="Aptos"/>
              </a:defRPr>
            </a:pPr>
            <a:r>
              <a:t>Entities + typed transactions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64224" y="1325880"/>
            <a:ext cx="257860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510528" y="1481328"/>
            <a:ext cx="438912" cy="438912"/>
          </a:xfrm>
          <a:prstGeom prst="ellipse">
            <a:avLst/>
          </a:prstGeom>
          <a:solidFill>
            <a:srgbClr val="4FAEBA"/>
          </a:solidFill>
          <a:ln>
            <a:solidFill>
              <a:srgbClr val="4FAE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10528" y="1490472"/>
            <a:ext cx="438912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77456" y="1490472"/>
            <a:ext cx="1691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19" b="1">
                <a:solidFill>
                  <a:srgbClr val="111F36"/>
                </a:solidFill>
                <a:latin typeface="Aptos"/>
              </a:defRPr>
            </a:pPr>
            <a:r>
              <a:t>TEMPORAL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2039112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68717A"/>
                </a:solidFill>
                <a:latin typeface="Aptos"/>
              </a:defRPr>
            </a:pPr>
            <a:r>
              <a:t>Recency • velocity • behavior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62872" y="1325880"/>
            <a:ext cx="257860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409176" y="1481328"/>
            <a:ext cx="438912" cy="438912"/>
          </a:xfrm>
          <a:prstGeom prst="ellipse">
            <a:avLst/>
          </a:prstGeom>
          <a:solidFill>
            <a:srgbClr val="CA9D41"/>
          </a:solidFill>
          <a:ln>
            <a:solidFill>
              <a:srgbClr val="CA9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409176" y="1490472"/>
            <a:ext cx="438912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76103" y="1490472"/>
            <a:ext cx="1691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19" b="1">
                <a:solidFill>
                  <a:srgbClr val="111F36"/>
                </a:solidFill>
                <a:latin typeface="Aptos"/>
              </a:defRPr>
            </a:pPr>
            <a:r>
              <a:t>ADAPTIVE GNN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27463" y="2039112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68717A"/>
                </a:solidFill>
                <a:latin typeface="Aptos"/>
              </a:defRPr>
            </a:pPr>
            <a:r>
              <a:t>Attention + reliable neighbors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3291839"/>
            <a:ext cx="257860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713232" y="3447287"/>
            <a:ext cx="438912" cy="438912"/>
          </a:xfrm>
          <a:prstGeom prst="ellipse">
            <a:avLst/>
          </a:prstGeom>
          <a:solidFill>
            <a:srgbClr val="1E5C91"/>
          </a:solidFill>
          <a:ln>
            <a:solidFill>
              <a:srgbClr val="1E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13232" y="3456431"/>
            <a:ext cx="438912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3456432"/>
            <a:ext cx="1691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19" b="1">
                <a:solidFill>
                  <a:srgbClr val="111F36"/>
                </a:solidFill>
                <a:latin typeface="Aptos"/>
              </a:defRPr>
            </a:pPr>
            <a:r>
              <a:t>IMBALANCE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005072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68717A"/>
                </a:solidFill>
                <a:latin typeface="Aptos"/>
              </a:defRPr>
            </a:pPr>
            <a:r>
              <a:t>Weighted / focal learning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65576" y="3291839"/>
            <a:ext cx="257860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3611880" y="3447287"/>
            <a:ext cx="438912" cy="438912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611880" y="3456431"/>
            <a:ext cx="438912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78808" y="3456432"/>
            <a:ext cx="1691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19" b="1">
                <a:solidFill>
                  <a:srgbClr val="111F36"/>
                </a:solidFill>
                <a:latin typeface="Aptos"/>
              </a:defRPr>
            </a:pPr>
            <a:r>
              <a:t>XAI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30168" y="4005072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68717A"/>
                </a:solidFill>
                <a:latin typeface="Aptos"/>
              </a:defRPr>
            </a:pPr>
            <a:r>
              <a:t>Feature + neighborhood evidence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64224" y="3291839"/>
            <a:ext cx="257860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6510528" y="3447287"/>
            <a:ext cx="438912" cy="438912"/>
          </a:xfrm>
          <a:prstGeom prst="ellipse">
            <a:avLst/>
          </a:prstGeom>
          <a:solidFill>
            <a:srgbClr val="4FAEBA"/>
          </a:solidFill>
          <a:ln>
            <a:solidFill>
              <a:srgbClr val="4FAE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10528" y="3456431"/>
            <a:ext cx="438912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77456" y="3456432"/>
            <a:ext cx="1691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19" b="1">
                <a:solidFill>
                  <a:srgbClr val="111F36"/>
                </a:solidFill>
                <a:latin typeface="Aptos"/>
              </a:defRPr>
            </a:pPr>
            <a:r>
              <a:t>RISK ENGINE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28816" y="4005072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68717A"/>
                </a:solidFill>
                <a:latin typeface="Aptos"/>
              </a:defRPr>
            </a:pPr>
            <a:r>
              <a:t>Probability → risk tier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262872" y="3291839"/>
            <a:ext cx="257860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9409176" y="3447287"/>
            <a:ext cx="438912" cy="438912"/>
          </a:xfrm>
          <a:prstGeom prst="ellipse">
            <a:avLst/>
          </a:prstGeom>
          <a:solidFill>
            <a:srgbClr val="CA9D41"/>
          </a:solidFill>
          <a:ln>
            <a:solidFill>
              <a:srgbClr val="CA9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409176" y="3456431"/>
            <a:ext cx="438912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76103" y="3456432"/>
            <a:ext cx="1691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19" b="1">
                <a:solidFill>
                  <a:srgbClr val="111F36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27463" y="4005072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68717A"/>
                </a:solidFill>
                <a:latin typeface="Aptos"/>
              </a:defRPr>
            </a:pPr>
            <a:r>
              <a:t>Alert + explanation + analytics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145536" y="2084831"/>
            <a:ext cx="256032" cy="0"/>
          </a:xfrm>
          <a:prstGeom prst="line">
            <a:avLst/>
          </a:prstGeom>
          <a:ln w="25400">
            <a:solidFill>
              <a:srgbClr val="D3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044184" y="2084831"/>
            <a:ext cx="256032" cy="0"/>
          </a:xfrm>
          <a:prstGeom prst="line">
            <a:avLst/>
          </a:prstGeom>
          <a:ln w="25400">
            <a:solidFill>
              <a:srgbClr val="D3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942832" y="2084831"/>
            <a:ext cx="256031" cy="0"/>
          </a:xfrm>
          <a:prstGeom prst="line">
            <a:avLst/>
          </a:prstGeom>
          <a:ln w="25400">
            <a:solidFill>
              <a:srgbClr val="D3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3145536" y="4050791"/>
            <a:ext cx="256032" cy="0"/>
          </a:xfrm>
          <a:prstGeom prst="line">
            <a:avLst/>
          </a:prstGeom>
          <a:ln w="25400">
            <a:solidFill>
              <a:srgbClr val="D3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044184" y="4050791"/>
            <a:ext cx="256032" cy="0"/>
          </a:xfrm>
          <a:prstGeom prst="line">
            <a:avLst/>
          </a:prstGeom>
          <a:ln w="25400">
            <a:solidFill>
              <a:srgbClr val="D3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942832" y="4050791"/>
            <a:ext cx="256031" cy="0"/>
          </a:xfrm>
          <a:prstGeom prst="line">
            <a:avLst/>
          </a:prstGeom>
          <a:ln w="25400">
            <a:solidFill>
              <a:srgbClr val="D3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731520" y="5532120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B83535"/>
                </a:solidFill>
                <a:latin typeface="Aptos"/>
              </a:defRPr>
            </a:pPr>
            <a:r>
              <a:t>Every module is tied to a research gap and evaluated through ablation experiments.</a:t>
            </a:r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73152"/>
            <a:ext cx="917448" cy="39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42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65960" y="73152"/>
            <a:ext cx="8915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Complete Project Workflow</a:t>
            </a:r>
          </a:p>
        </p:txBody>
      </p:sp>
      <p:sp>
        <p:nvSpPr>
          <p:cNvPr id="11" name="Oval 10"/>
          <p:cNvSpPr/>
          <p:nvPr/>
        </p:nvSpPr>
        <p:spPr>
          <a:xfrm>
            <a:off x="11201400" y="155448"/>
            <a:ext cx="365760" cy="36576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01400" y="164592"/>
            <a:ext cx="365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832104"/>
            <a:ext cx="960120" cy="45720"/>
          </a:xfrm>
          <a:prstGeom prst="rect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8912" y="1325880"/>
            <a:ext cx="2084831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207007" y="1444752"/>
            <a:ext cx="457200" cy="45720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07007" y="1453896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984248"/>
            <a:ext cx="18470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11F36"/>
                </a:solidFill>
                <a:latin typeface="Aptos"/>
              </a:defRPr>
            </a:pPr>
            <a:r>
              <a:t>Literature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286000"/>
            <a:ext cx="184708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0">
                <a:solidFill>
                  <a:srgbClr val="68717A"/>
                </a:solidFill>
                <a:latin typeface="Aptos"/>
              </a:defRPr>
            </a:pPr>
            <a:r>
              <a:t>12 papers → limitations → gaps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70632" y="1325880"/>
            <a:ext cx="2084831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538727" y="1444752"/>
            <a:ext cx="457200" cy="45720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38727" y="1453896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1984248"/>
            <a:ext cx="18470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11F36"/>
                </a:solidFill>
                <a:latin typeface="Aptos"/>
              </a:defRPr>
            </a:pPr>
            <a:r>
              <a:t>Datasets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2286000"/>
            <a:ext cx="184708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0">
                <a:solidFill>
                  <a:srgbClr val="68717A"/>
                </a:solidFill>
                <a:latin typeface="Aptos"/>
              </a:defRPr>
            </a:pPr>
            <a:r>
              <a:t>Collect + audit + split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02352" y="1325880"/>
            <a:ext cx="2084831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870448" y="1444752"/>
            <a:ext cx="457200" cy="45720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870448" y="1453896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1984248"/>
            <a:ext cx="18470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11F36"/>
                </a:solidFill>
                <a:latin typeface="Aptos"/>
              </a:defRPr>
            </a:pPr>
            <a:r>
              <a:t>Graph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2286000"/>
            <a:ext cx="184708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0">
                <a:solidFill>
                  <a:srgbClr val="68717A"/>
                </a:solidFill>
                <a:latin typeface="Aptos"/>
              </a:defRPr>
            </a:pPr>
            <a:r>
              <a:t>Nodes + typed edges + attributes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34071" y="1325880"/>
            <a:ext cx="2084831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202167" y="1444752"/>
            <a:ext cx="457200" cy="45720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02167" y="1453896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799" y="1984248"/>
            <a:ext cx="18470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11F36"/>
                </a:solidFill>
                <a:latin typeface="Aptos"/>
              </a:defRPr>
            </a:pPr>
            <a:r>
              <a:t>Features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799" y="2286000"/>
            <a:ext cx="184708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0">
                <a:solidFill>
                  <a:srgbClr val="68717A"/>
                </a:solidFill>
                <a:latin typeface="Aptos"/>
              </a:defRPr>
            </a:pPr>
            <a:r>
              <a:t>Temporal + behavioral + network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65792" y="1325880"/>
            <a:ext cx="2084831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533888" y="1444752"/>
            <a:ext cx="457200" cy="45720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533888" y="1453896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19" y="1984248"/>
            <a:ext cx="18470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11F36"/>
                </a:solidFill>
                <a:latin typeface="Aptos"/>
              </a:defRPr>
            </a:pPr>
            <a:r>
              <a:t>Baselines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19" y="2286000"/>
            <a:ext cx="184708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0">
                <a:solidFill>
                  <a:srgbClr val="68717A"/>
                </a:solidFill>
                <a:latin typeface="Aptos"/>
              </a:defRPr>
            </a:pPr>
            <a:r>
              <a:t>RF/XGBoost + GCN/GraphSAGE/GAT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8912" y="3200400"/>
            <a:ext cx="2084831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207007" y="3319272"/>
            <a:ext cx="457200" cy="45720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207007" y="3328415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3858768"/>
            <a:ext cx="18470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11F36"/>
                </a:solidFill>
                <a:latin typeface="Aptos"/>
              </a:defRPr>
            </a:pPr>
            <a:r>
              <a:t>TEA-GNN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160520"/>
            <a:ext cx="184708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0">
                <a:solidFill>
                  <a:srgbClr val="68717A"/>
                </a:solidFill>
                <a:latin typeface="Aptos"/>
              </a:defRPr>
            </a:pPr>
            <a:r>
              <a:t>Train + tune + imbalance handling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70632" y="3200400"/>
            <a:ext cx="2084831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3538727" y="3319272"/>
            <a:ext cx="457200" cy="45720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538727" y="3328415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80360" y="3858768"/>
            <a:ext cx="18470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11F36"/>
                </a:solidFill>
                <a:latin typeface="Aptos"/>
              </a:defRPr>
            </a:pPr>
            <a:r>
              <a:t>Explain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80360" y="4160520"/>
            <a:ext cx="184708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0">
                <a:solidFill>
                  <a:srgbClr val="68717A"/>
                </a:solidFill>
                <a:latin typeface="Aptos"/>
              </a:defRPr>
            </a:pPr>
            <a:r>
              <a:t>Generate local fraud evidence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102352" y="3200400"/>
            <a:ext cx="2084831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5870448" y="3319272"/>
            <a:ext cx="457200" cy="45720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870448" y="3328415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12080" y="3858768"/>
            <a:ext cx="18470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11F36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80" y="4160520"/>
            <a:ext cx="184708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0">
                <a:solidFill>
                  <a:srgbClr val="68717A"/>
                </a:solidFill>
                <a:latin typeface="Aptos"/>
              </a:defRPr>
            </a:pPr>
            <a:r>
              <a:t>F1 • PR-AUC • AUC • latency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434071" y="3200400"/>
            <a:ext cx="2084831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8202167" y="3319272"/>
            <a:ext cx="457200" cy="45720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02167" y="3328415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43799" y="3858768"/>
            <a:ext cx="18470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11F36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43799" y="4160520"/>
            <a:ext cx="184708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0">
                <a:solidFill>
                  <a:srgbClr val="68717A"/>
                </a:solidFill>
                <a:latin typeface="Aptos"/>
              </a:defRPr>
            </a:pPr>
            <a:r>
              <a:t>Baseline vs proposed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765792" y="3200400"/>
            <a:ext cx="2084831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10533888" y="3319272"/>
            <a:ext cx="457200" cy="45720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533888" y="3328415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75519" y="3858768"/>
            <a:ext cx="18470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11F36"/>
                </a:solidFill>
                <a:latin typeface="Aptos"/>
              </a:defRPr>
            </a:pPr>
            <a:r>
              <a:t>Deliver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75519" y="4160520"/>
            <a:ext cx="184708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0">
                <a:solidFill>
                  <a:srgbClr val="68717A"/>
                </a:solidFill>
                <a:latin typeface="Aptos"/>
              </a:defRPr>
            </a:pPr>
            <a:r>
              <a:t>Dashboard + report + presentation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97280" y="5303520"/>
            <a:ext cx="9966960" cy="566928"/>
          </a:xfrm>
          <a:prstGeom prst="round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280160" y="5440680"/>
            <a:ext cx="9601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DATA → GRAPH → LEARNING → EXPLANATION → EVALUATION → EVIDENCE</a:t>
            </a:r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73152"/>
            <a:ext cx="917448" cy="39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65960" y="73152"/>
            <a:ext cx="8915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Expected Outcomes &amp; Impact</a:t>
            </a:r>
          </a:p>
        </p:txBody>
      </p:sp>
      <p:sp>
        <p:nvSpPr>
          <p:cNvPr id="8" name="Oval 7"/>
          <p:cNvSpPr/>
          <p:nvPr/>
        </p:nvSpPr>
        <p:spPr>
          <a:xfrm>
            <a:off x="11201400" y="155448"/>
            <a:ext cx="365760" cy="36576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201400" y="164592"/>
            <a:ext cx="365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832104"/>
            <a:ext cx="960120" cy="45720"/>
          </a:xfrm>
          <a:prstGeom prst="rect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417320"/>
            <a:ext cx="51663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41247" y="1600200"/>
            <a:ext cx="475488" cy="475488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7" y="1609344"/>
            <a:ext cx="4754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591056"/>
            <a:ext cx="3931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11F36"/>
                </a:solidFill>
                <a:latin typeface="Aptos"/>
              </a:defRPr>
            </a:pPr>
            <a:r>
              <a:t>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1920240"/>
            <a:ext cx="3931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Higher recall/F1 and reduced false-positive burden are the target.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1417320"/>
            <a:ext cx="51663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437376" y="1600200"/>
            <a:ext cx="475488" cy="475488"/>
          </a:xfrm>
          <a:prstGeom prst="ellipse">
            <a:avLst/>
          </a:prstGeom>
          <a:solidFill>
            <a:srgbClr val="1E5C91"/>
          </a:solidFill>
          <a:ln>
            <a:solidFill>
              <a:srgbClr val="1E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37376" y="1609344"/>
            <a:ext cx="4754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1591056"/>
            <a:ext cx="3931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11F36"/>
                </a:solidFill>
                <a:latin typeface="Aptos"/>
              </a:defRPr>
            </a:pPr>
            <a:r>
              <a:t>Trust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1920240"/>
            <a:ext cx="3931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Risk score is accompanied by interpretable evidence.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017520"/>
            <a:ext cx="51663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41247" y="3200400"/>
            <a:ext cx="475488" cy="475488"/>
          </a:xfrm>
          <a:prstGeom prst="ellipse">
            <a:avLst/>
          </a:prstGeom>
          <a:solidFill>
            <a:srgbClr val="CA9D41"/>
          </a:solidFill>
          <a:ln>
            <a:solidFill>
              <a:srgbClr val="CA9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7" y="3209544"/>
            <a:ext cx="4754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191256"/>
            <a:ext cx="3931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11F36"/>
                </a:solidFill>
                <a:latin typeface="Aptos"/>
              </a:defRPr>
            </a:pPr>
            <a:r>
              <a:t>Scalability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3520439"/>
            <a:ext cx="3931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Efficient neighborhood processing is evaluated through latency.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54496" y="3017520"/>
            <a:ext cx="51663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437376" y="3200400"/>
            <a:ext cx="475488" cy="475488"/>
          </a:xfrm>
          <a:prstGeom prst="ellipse">
            <a:avLst/>
          </a:prstGeom>
          <a:solidFill>
            <a:srgbClr val="4FAEBA"/>
          </a:solidFill>
          <a:ln>
            <a:solidFill>
              <a:srgbClr val="4FAE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37376" y="3209544"/>
            <a:ext cx="4754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3191256"/>
            <a:ext cx="3931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11F36"/>
                </a:solidFill>
                <a:latin typeface="Aptos"/>
              </a:defRPr>
            </a:pPr>
            <a:r>
              <a:t>Feasibility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59168" y="3520439"/>
            <a:ext cx="3931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Public datasets + open-source tools make the prototype practical.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800600"/>
            <a:ext cx="10835640" cy="777240"/>
          </a:xfrm>
          <a:prstGeom prst="round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001768"/>
            <a:ext cx="10378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Existing Works  →  Research Gaps  →  TEA-GNN  →  Comparative 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897880"/>
            <a:ext cx="10835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9857E"/>
                </a:solidFill>
                <a:latin typeface="Aptos"/>
              </a:defRPr>
            </a:pPr>
            <a:r>
              <a:t>Thank you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73152"/>
            <a:ext cx="917448" cy="39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1379</Words>
  <Application>Microsoft Office PowerPoint</Application>
  <PresentationFormat>Widescreen</PresentationFormat>
  <Paragraphs>285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amargsp1406@outlook.com</cp:lastModifiedBy>
  <cp:revision>27</cp:revision>
  <dcterms:created xsi:type="dcterms:W3CDTF">2024-08-29T05:25:00Z</dcterms:created>
  <dcterms:modified xsi:type="dcterms:W3CDTF">2026-08-19T03:49:08Z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